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1584" y="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685800" y="3196686"/>
            <a:ext cx="77724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76401"/>
            <a:ext cx="7772400" cy="1538286"/>
          </a:xfrm>
        </p:spPr>
        <p:txBody>
          <a:bodyPr anchor="b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214686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 smtClean="0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73152" y="6400800"/>
            <a:ext cx="3200400" cy="283800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5330952" y="6400800"/>
            <a:ext cx="3733800" cy="283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685800" y="3143248"/>
            <a:ext cx="77724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143248"/>
            <a:ext cx="7772400" cy="1362075"/>
          </a:xfrm>
        </p:spPr>
        <p:txBody>
          <a:bodyPr anchor="t"/>
          <a:lstStyle>
            <a:lvl1pPr algn="ctr">
              <a:defRPr sz="4000" b="0" cap="all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1643061"/>
            <a:ext cx="7772400" cy="1500187"/>
          </a:xfrm>
        </p:spPr>
        <p:txBody>
          <a:bodyPr anchor="b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0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 sz="18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0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 sz="18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2786050" y="1053546"/>
            <a:ext cx="59040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86050" y="228600"/>
            <a:ext cx="5900752" cy="842946"/>
          </a:xfrm>
        </p:spPr>
        <p:txBody>
          <a:bodyPr anchor="b"/>
          <a:lstStyle>
            <a:lvl1pPr algn="ctr">
              <a:defRPr sz="2800" b="0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786050" y="1142984"/>
            <a:ext cx="5900750" cy="51435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5" y="1142984"/>
            <a:ext cx="2257408" cy="5143536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3400" y="304800"/>
            <a:ext cx="6400800" cy="685800"/>
          </a:xfrm>
        </p:spPr>
        <p:txBody>
          <a:bodyPr anchor="ctr"/>
          <a:lstStyle>
            <a:lvl1pPr algn="l">
              <a:defRPr sz="2400" b="0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701552" y="1143000"/>
            <a:ext cx="7223248" cy="3980172"/>
          </a:xfrm>
          <a:prstGeom prst="roundRect">
            <a:avLst>
              <a:gd name="adj" fmla="val 18278"/>
            </a:avLst>
          </a:prstGeom>
          <a:solidFill>
            <a:schemeClr val="accent1">
              <a:tint val="40000"/>
            </a:schemeClr>
          </a:solidFill>
          <a:ln w="50800" cap="rnd">
            <a:gradFill flip="none" rotWithShape="1">
              <a:gsLst>
                <a:gs pos="0">
                  <a:schemeClr val="accent1">
                    <a:shade val="50000"/>
                  </a:schemeClr>
                </a:gs>
                <a:gs pos="20000">
                  <a:schemeClr val="accent2">
                    <a:shade val="50000"/>
                  </a:schemeClr>
                </a:gs>
                <a:gs pos="40000">
                  <a:schemeClr val="accent3">
                    <a:shade val="50000"/>
                  </a:schemeClr>
                </a:gs>
                <a:gs pos="60000">
                  <a:schemeClr val="accent4">
                    <a:shade val="50000"/>
                  </a:schemeClr>
                </a:gs>
                <a:gs pos="80000">
                  <a:schemeClr val="accent5">
                    <a:shade val="50000"/>
                  </a:schemeClr>
                </a:gs>
                <a:gs pos="100000">
                  <a:schemeClr val="accent6">
                    <a:shade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  <a:effectLst>
            <a:outerShdw blurRad="50800" dist="38100" dir="5400000" algn="tl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 smtClean="0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62200" y="5410200"/>
            <a:ext cx="5657888" cy="804862"/>
          </a:xfrm>
        </p:spPr>
        <p:txBody>
          <a:bodyPr anchor="ctr"/>
          <a:lstStyle>
            <a:lvl1pPr marL="0" indent="0" algn="r">
              <a:buNone/>
              <a:defRPr sz="1200" b="0"/>
            </a:lvl1pPr>
            <a:lvl2pPr marL="457200" indent="0" algn="r">
              <a:buNone/>
              <a:defRPr sz="1200" b="0"/>
            </a:lvl2pPr>
            <a:lvl3pPr marL="914400" indent="0" algn="r">
              <a:buNone/>
              <a:defRPr sz="1200" b="0"/>
            </a:lvl3pPr>
            <a:lvl4pPr marL="1371600" indent="0" algn="r">
              <a:buNone/>
              <a:defRPr sz="1200" b="0"/>
            </a:lvl4pPr>
            <a:lvl5pPr marL="1828800" indent="0" algn="r">
              <a:buNone/>
              <a:defRPr sz="1200" b="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15206" y="274638"/>
            <a:ext cx="1471594" cy="6011882"/>
          </a:xfrm>
        </p:spPr>
        <p:txBody>
          <a:bodyPr vert="eaVert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686568" cy="6011882"/>
          </a:xfrm>
        </p:spPr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6678000"/>
            <a:ext cx="9144000" cy="180000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50000">
                <a:schemeClr val="accent1">
                  <a:tint val="2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</a:bodyPr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68632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  <a:p>
            <a:pPr lvl="1" eaLnBrk="1" latinLnBrk="0" hangingPunct="1"/>
            <a:r>
              <a:rPr kumimoji="0" lang="zh-CN" altLang="en-US" smtClean="0"/>
              <a:t>第二级</a:t>
            </a:r>
          </a:p>
          <a:p>
            <a:pPr lvl="2" eaLnBrk="1" latinLnBrk="0" hangingPunct="1"/>
            <a:r>
              <a:rPr kumimoji="0" lang="zh-CN" altLang="en-US" smtClean="0"/>
              <a:t>第三级</a:t>
            </a:r>
          </a:p>
          <a:p>
            <a:pPr lvl="3" eaLnBrk="1" latinLnBrk="0" hangingPunct="1"/>
            <a:r>
              <a:rPr kumimoji="0" lang="zh-CN" altLang="en-US" smtClean="0"/>
              <a:t>第四级</a:t>
            </a:r>
          </a:p>
          <a:p>
            <a:pPr lvl="4" eaLnBrk="1" latinLnBrk="0" hangingPunct="1"/>
            <a:r>
              <a:rPr kumimoji="0"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200" y="6400800"/>
            <a:ext cx="3200400" cy="283800"/>
          </a:xfrm>
          <a:prstGeom prst="rect">
            <a:avLst/>
          </a:prstGeom>
        </p:spPr>
        <p:txBody>
          <a:bodyPr vert="horz" rtlCol="0" anchor="b"/>
          <a:lstStyle>
            <a:lvl1pPr algn="l" eaLnBrk="1" latinLnBrk="0" hangingPunct="1">
              <a:defRPr kumimoji="0" sz="11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5334000" y="6400800"/>
            <a:ext cx="3733800" cy="283800"/>
          </a:xfrm>
          <a:prstGeom prst="rect">
            <a:avLst/>
          </a:prstGeom>
        </p:spPr>
        <p:txBody>
          <a:bodyPr vert="horz" rtlCol="0" anchor="ctr"/>
          <a:lstStyle>
            <a:lvl1pPr algn="r" eaLnBrk="1" latinLnBrk="0" hangingPunct="1">
              <a:defRPr kumimoji="0" sz="11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114800" y="6400800"/>
            <a:ext cx="914400" cy="283464"/>
          </a:xfrm>
          <a:prstGeom prst="rect">
            <a:avLst/>
          </a:prstGeom>
          <a:noFill/>
        </p:spPr>
        <p:txBody>
          <a:bodyPr vert="horz" lIns="45720" rIns="45720" rtlCol="0" anchor="ctr"/>
          <a:lstStyle>
            <a:lvl1pPr algn="ctr" eaLnBrk="1" latinLnBrk="0" hangingPunct="1">
              <a:defRPr kumimoji="0" sz="1100" b="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8000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50000">
                <a:schemeClr val="accent1">
                  <a:tint val="2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latinLnBrk="0" hangingPunct="1">
        <a:spcBef>
          <a:spcPct val="0"/>
        </a:spcBef>
        <a:buNone/>
        <a:defRPr kumimoji="0" sz="4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ß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Þ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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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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13" Type="http://schemas.openxmlformats.org/officeDocument/2006/relationships/image" Target="../media/image14.jpeg"/><Relationship Id="rId18" Type="http://schemas.openxmlformats.org/officeDocument/2006/relationships/image" Target="../media/image19.jpeg"/><Relationship Id="rId3" Type="http://schemas.openxmlformats.org/officeDocument/2006/relationships/image" Target="../media/image4.jpeg"/><Relationship Id="rId21" Type="http://schemas.openxmlformats.org/officeDocument/2006/relationships/image" Target="../media/image22.emf"/><Relationship Id="rId7" Type="http://schemas.openxmlformats.org/officeDocument/2006/relationships/image" Target="../media/image8.jpeg"/><Relationship Id="rId12" Type="http://schemas.openxmlformats.org/officeDocument/2006/relationships/image" Target="../media/image13.jpe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image" Target="../media/image3.jpeg"/><Relationship Id="rId16" Type="http://schemas.openxmlformats.org/officeDocument/2006/relationships/image" Target="../media/image17.png"/><Relationship Id="rId20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11" Type="http://schemas.openxmlformats.org/officeDocument/2006/relationships/image" Target="../media/image12.jpeg"/><Relationship Id="rId24" Type="http://schemas.openxmlformats.org/officeDocument/2006/relationships/image" Target="../media/image25.png"/><Relationship Id="rId5" Type="http://schemas.openxmlformats.org/officeDocument/2006/relationships/image" Target="../media/image6.jpe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jpeg"/><Relationship Id="rId19" Type="http://schemas.openxmlformats.org/officeDocument/2006/relationships/image" Target="../media/image20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544" y="116632"/>
            <a:ext cx="8229600" cy="1080120"/>
          </a:xfrm>
        </p:spPr>
        <p:txBody>
          <a:bodyPr/>
          <a:lstStyle/>
          <a:p>
            <a:r>
              <a:rPr lang="zh-CN" altLang="en-US" dirty="0" smtClean="0"/>
              <a:t>考鼎记演员表</a:t>
            </a:r>
            <a:endParaRPr lang="zh-CN" altLang="en-US" dirty="0"/>
          </a:p>
        </p:txBody>
      </p:sp>
      <p:pic>
        <p:nvPicPr>
          <p:cNvPr id="4" name="Picture 2" descr="https://gimg2.baidu.com/image_search/src=http%3A%2F%2Fn.sinaimg.cn%2Fsinacn12%2F264%2Fw620h444%2F20180422%2F60a5-fytnfyp9039629.jpg&amp;refer=http%3A%2F%2Fn.sinaimg.cn&amp;app=2002&amp;size=f9999,10000&amp;q=a80&amp;n=0&amp;g=0n&amp;fmt=jpeg?sec=1619749185&amp;t=540e59e9a9ba26e3571aaad0aa7c0c5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89" y="1703438"/>
            <a:ext cx="1118610" cy="801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135994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焦晃饰演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53" y="2780662"/>
            <a:ext cx="1118610" cy="621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矩形 6"/>
          <p:cNvSpPr/>
          <p:nvPr/>
        </p:nvSpPr>
        <p:spPr>
          <a:xfrm>
            <a:off x="135994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孟学树博士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金士杰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Picture 8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81" y="3777999"/>
            <a:ext cx="1118609" cy="7330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135994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博士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杨超越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Picture 10" descr="https://gimg2.baidu.com/image_search/src=http%3A%2F%2F5b0988e595225.cdn.sohucs.com%2Fimages%2F20171204%2Ff0eb0fee70dd40d6a8eef92df5712d38.jpeg&amp;refer=http%3A%2F%2F5b0988e595225.cdn.sohucs.com&amp;app=2002&amp;size=f9999,10000&amp;q=a80&amp;n=0&amp;g=0n&amp;fmt=jpeg?sec=1619749577&amp;t=bde764cd791c901d31c28475c5a116e6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415" y="4798166"/>
            <a:ext cx="1121190" cy="757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矩形 10"/>
          <p:cNvSpPr/>
          <p:nvPr/>
        </p:nvSpPr>
        <p:spPr>
          <a:xfrm>
            <a:off x="135994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徐静蕾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35994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王志文饰演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Picture 13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53" y="5797873"/>
            <a:ext cx="1153315" cy="768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矩形 14"/>
          <p:cNvSpPr/>
          <p:nvPr/>
        </p:nvSpPr>
        <p:spPr>
          <a:xfrm>
            <a:off x="1949965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张纪中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1708831"/>
            <a:ext cx="1232048" cy="8180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1949965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冯巩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8" name="Picture 3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2797802"/>
            <a:ext cx="1263622" cy="711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矩形 18"/>
          <p:cNvSpPr/>
          <p:nvPr/>
        </p:nvSpPr>
        <p:spPr>
          <a:xfrm>
            <a:off x="1949965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韦七爷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陈道明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0" name="Picture 4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7774" y="3804311"/>
            <a:ext cx="1135530" cy="75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1" name="Picture 6" descr="https://ss1.bdstatic.com/70cFuXSh_Q1YnxGkpoWK1HF6hhy/it/u=3183893129,4229766172&amp;fm=26&amp;gp=0.jpg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506" y="4812511"/>
            <a:ext cx="1192918" cy="746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矩形 21"/>
          <p:cNvSpPr/>
          <p:nvPr/>
        </p:nvSpPr>
        <p:spPr>
          <a:xfrm>
            <a:off x="1949965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古力娜扎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3" name="Picture 7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545" y="5797873"/>
            <a:ext cx="1404840" cy="7833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4" name="矩形 23"/>
          <p:cNvSpPr/>
          <p:nvPr/>
        </p:nvSpPr>
        <p:spPr>
          <a:xfrm>
            <a:off x="1949965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刘涛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3763936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3763936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古小斌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范伟饰演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8" name="Picture 4" descr="https://ss3.bdstatic.com/70cFv8Sh_Q1YnxGkpoWK1HF6hhy/it/u=3023139375,3814847074&amp;fm=26&amp;gp=0.jpg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4779" y="2770844"/>
            <a:ext cx="1026314" cy="769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矩形 28"/>
          <p:cNvSpPr/>
          <p:nvPr/>
        </p:nvSpPr>
        <p:spPr>
          <a:xfrm>
            <a:off x="3763936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陈宝国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" name="Picture 5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2826" y="3801078"/>
            <a:ext cx="1190220" cy="638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矩形 30"/>
          <p:cNvSpPr/>
          <p:nvPr/>
        </p:nvSpPr>
        <p:spPr>
          <a:xfrm>
            <a:off x="3763936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姜文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3763936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沈腾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4" name="Picture 9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5823" y="5792814"/>
            <a:ext cx="1144225" cy="8209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5" name="Picture 3"/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5200" y="1703438"/>
            <a:ext cx="565471" cy="848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矩形 36"/>
          <p:cNvSpPr/>
          <p:nvPr/>
        </p:nvSpPr>
        <p:spPr>
          <a:xfrm>
            <a:off x="5577907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张嘉译饰演</a:t>
            </a:r>
          </a:p>
        </p:txBody>
      </p:sp>
      <p:sp>
        <p:nvSpPr>
          <p:cNvPr id="38" name="矩形 37"/>
          <p:cNvSpPr/>
          <p:nvPr/>
        </p:nvSpPr>
        <p:spPr>
          <a:xfrm>
            <a:off x="5577907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郭麒麟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9" name="Picture 3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146" y="1693450"/>
            <a:ext cx="1115521" cy="7183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1" name="矩形 40"/>
          <p:cNvSpPr/>
          <p:nvPr/>
        </p:nvSpPr>
        <p:spPr>
          <a:xfrm>
            <a:off x="5577907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曹炳琨饰演</a:t>
            </a:r>
          </a:p>
        </p:txBody>
      </p:sp>
      <p:sp>
        <p:nvSpPr>
          <p:cNvPr id="43" name="矩形 42"/>
          <p:cNvSpPr/>
          <p:nvPr/>
        </p:nvSpPr>
        <p:spPr>
          <a:xfrm>
            <a:off x="5577907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张雨绮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4" name="Picture 11"/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087" y="5805264"/>
            <a:ext cx="1128580" cy="7533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5" name="矩形 44"/>
          <p:cNvSpPr/>
          <p:nvPr/>
        </p:nvSpPr>
        <p:spPr>
          <a:xfrm>
            <a:off x="5577907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高晓松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6" name="Picture 13" descr="https://ss1.bdstatic.com/70cFvXSh_Q1YnxGkpoWK1HF6hhy/it/u=807831728,3913605867&amp;fm=26&amp;gp=0.jpg"/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2838" y="2783036"/>
            <a:ext cx="558136" cy="77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2"/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6108" y="1694741"/>
            <a:ext cx="1259538" cy="9572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9" name="矩形 48"/>
          <p:cNvSpPr/>
          <p:nvPr/>
        </p:nvSpPr>
        <p:spPr>
          <a:xfrm>
            <a:off x="7391877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泰爷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王绘春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7391877" y="2771935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于谦饰演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" name="Picture 4" descr="https://ss3.bdstatic.com/70cFv8Sh_Q1YnxGkpoWK1HF6hhy/it/u=1729001356,1855811453&amp;fm=26&amp;gp=0.jpg"/>
          <p:cNvPicPr>
            <a:picLocks noChangeAspect="1" noChangeArrowheads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6108" y="2993638"/>
            <a:ext cx="1287330" cy="1163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137" y="3801232"/>
            <a:ext cx="994021" cy="7301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0286" y="4805111"/>
            <a:ext cx="1135299" cy="747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906" y="4803248"/>
            <a:ext cx="1164481" cy="7289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0589" y="5726947"/>
            <a:ext cx="1330575" cy="8302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2" name="矩形 51"/>
          <p:cNvSpPr/>
          <p:nvPr/>
        </p:nvSpPr>
        <p:spPr>
          <a:xfrm>
            <a:off x="7391876" y="5510947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科大讯飞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405773" y="4247185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小美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宋佳饰演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4" name="Picture 3"/>
          <p:cNvPicPr>
            <a:picLocks noChangeAspect="1" noChangeArrowheads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9208" y="4472321"/>
            <a:ext cx="1401129" cy="9023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48324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暗香扑面">
  <a:themeElements>
    <a:clrScheme name="暗香扑面">
      <a:dk1>
        <a:sysClr val="windowText" lastClr="000000"/>
      </a:dk1>
      <a:lt1>
        <a:sysClr val="window" lastClr="FFFFFF"/>
      </a:lt1>
      <a:dk2>
        <a:srgbClr val="2F2F2F"/>
      </a:dk2>
      <a:lt2>
        <a:srgbClr val="FFFFF4"/>
      </a:lt2>
      <a:accent1>
        <a:srgbClr val="918415"/>
      </a:accent1>
      <a:accent2>
        <a:srgbClr val="C47546"/>
      </a:accent2>
      <a:accent3>
        <a:srgbClr val="AFB591"/>
      </a:accent3>
      <a:accent4>
        <a:srgbClr val="B9945B"/>
      </a:accent4>
      <a:accent5>
        <a:srgbClr val="85ADBC"/>
      </a:accent5>
      <a:accent6>
        <a:srgbClr val="E5B440"/>
      </a:accent6>
      <a:hlink>
        <a:srgbClr val="00D5D5"/>
      </a:hlink>
      <a:folHlink>
        <a:srgbClr val="DD00DD"/>
      </a:folHlink>
    </a:clrScheme>
    <a:fontScheme name="暗香扑面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創英角ｺﾞｼｯｸUB"/>
        <a:font script="Hang" typeface="맑은 고딕"/>
        <a:font script="Hans" typeface="黑体"/>
        <a:font script="Hant" typeface="新細明體"/>
        <a:font script="Arab" typeface="Arial"/>
        <a:font script="Hebr" typeface="Arial"/>
        <a:font script="Thai" typeface="Cordian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暗香扑面">
      <a:fillStyleLst>
        <a:solidFill>
          <a:schemeClr val="phClr"/>
        </a:solidFill>
        <a:gradFill rotWithShape="1">
          <a:gsLst>
            <a:gs pos="0">
              <a:schemeClr val="phClr">
                <a:tint val="98000"/>
                <a:satMod val="220000"/>
              </a:schemeClr>
            </a:gs>
            <a:gs pos="31000">
              <a:schemeClr val="phClr">
                <a:tint val="30000"/>
                <a:satMod val="150000"/>
              </a:schemeClr>
            </a:gs>
            <a:gs pos="91000">
              <a:schemeClr val="phClr">
                <a:tint val="96000"/>
              </a:schemeClr>
            </a:gs>
          </a:gsLst>
          <a:path path="circle">
            <a:fillToRect l="50000" t="150000" r="50000"/>
          </a:path>
        </a:gradFill>
        <a:blipFill>
          <a:blip xmlns:r="http://schemas.openxmlformats.org/officeDocument/2006/relationships" r:embed="rId1">
            <a:duotone>
              <a:schemeClr val="phClr">
                <a:shade val="28000"/>
                <a:satMod val="100000"/>
              </a:schemeClr>
              <a:schemeClr val="phClr">
                <a:tint val="100000"/>
                <a:satMod val="200000"/>
              </a:schemeClr>
            </a:duotone>
          </a:blip>
          <a:tile tx="0" ty="0" sx="80000" sy="80000" flip="none" algn="tl"/>
        </a:blip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alpha val="45000"/>
                <a:satMod val="110000"/>
              </a:schemeClr>
            </a:glow>
          </a:effectLst>
        </a:effectStyle>
        <a:effectStyle>
          <a:effectLst>
            <a:outerShdw blurRad="34925" dist="31750" dir="5400000" algn="tl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flood" dir="t">
              <a:rot lat="0" lon="0" rev="5400000"/>
            </a:lightRig>
          </a:scene3d>
          <a:sp3d contourW="9525" prstMaterial="dkEdge">
            <a:bevelT w="12000" h="24150"/>
            <a:contourClr>
              <a:schemeClr val="phClr">
                <a:satMod val="110000"/>
              </a:schemeClr>
            </a:contourClr>
          </a:sp3d>
        </a:effectStyle>
        <a:effectStyle>
          <a:effectLst>
            <a:outerShdw blurRad="50800" dist="31750" dir="5400000" algn="tl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flood" dir="t">
              <a:rot lat="0" lon="0" rev="5400000"/>
            </a:lightRig>
          </a:scene3d>
          <a:sp3d contourW="18700" prstMaterial="dkEdge">
            <a:bevelT w="44450" h="80600"/>
            <a:contourClr>
              <a:schemeClr val="phClr"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0000"/>
                <a:satMod val="1000000"/>
              </a:schemeClr>
            </a:gs>
            <a:gs pos="31000">
              <a:schemeClr val="phClr">
                <a:shade val="85000"/>
                <a:satMod val="450000"/>
              </a:schemeClr>
            </a:gs>
            <a:gs pos="100000">
              <a:schemeClr val="phClr">
                <a:tint val="70000"/>
                <a:satMod val="300000"/>
              </a:schemeClr>
            </a:gs>
          </a:gsLst>
          <a:path path="circle">
            <a:fillToRect l="50000" t="150000" r="50000"/>
          </a:path>
        </a:gradFill>
        <a:blipFill>
          <a:blip xmlns:r="http://schemas.openxmlformats.org/officeDocument/2006/relationships" r:embed="rId2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Fan</Template>
  <TotalTime>19</TotalTime>
  <Words>154</Words>
  <Application>Microsoft Office PowerPoint</Application>
  <PresentationFormat>全屏显示(4:3)</PresentationFormat>
  <Paragraphs>25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暗香扑面</vt:lpstr>
      <vt:lpstr>考鼎记演员表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考鼎记演员表</dc:title>
  <dc:creator>liuxin</dc:creator>
  <cp:lastModifiedBy>liuxin</cp:lastModifiedBy>
  <cp:revision>7</cp:revision>
  <dcterms:created xsi:type="dcterms:W3CDTF">2021-03-31T06:24:20Z</dcterms:created>
  <dcterms:modified xsi:type="dcterms:W3CDTF">2021-03-31T07:49:57Z</dcterms:modified>
</cp:coreProperties>
</file>